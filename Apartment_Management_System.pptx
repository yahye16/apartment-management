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2103120"/>
            <a:ext cx="6400800" cy="64008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4206240"/>
            <a:ext cx="4114800" cy="4114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 •  SPRING BOOT + REACT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Apartment Management System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System for Managing Rental Properties, Units, Payments, and Maintenance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5074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53492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+ PostgreSQL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0" y="5074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0" y="53492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 + Axios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55280" y="5074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55280" y="53492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Spring Security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937760"/>
            <a:ext cx="10424160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263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Ready | 15 Slides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158191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Solution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25880" y="1892808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project was created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249631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2478024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27889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aim to achieve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3392424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337413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Technology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5880" y="368503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Boot, PostgreSQL, Maven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428853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25880" y="4270248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Technology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4581144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Vite, Axios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72200" y="16002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58000" y="158191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0" y="1892808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architecture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72200" y="249631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58000" y="2478024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0" y="27889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and their relationships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72200" y="3392424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58000" y="337413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Authentication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8000" y="368503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Roles, BCrypt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172200" y="428853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58000" y="4270248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Dashboard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58000" y="4581144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and statistics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and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property management relies on paper and Excel — leading to many errors.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place to see vacant units, rented ones, and pending payments.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requests get lost or take a long time to resolve.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1E2761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2940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29400" y="2377440"/>
            <a:ext cx="4617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web system — Backend (Spring Boot) + Frontend (React).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(properties, units, tenants, payments) is stored in one place and can be accessed within seconds.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dashboard shows the overall business status upon login.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5387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20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Strengthened Management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2907792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single system to manage properties, units, and owners.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1645920"/>
            <a:ext cx="35387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920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9160" y="256032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Lease Tracking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709160" y="2907792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leases, their status, and end dates.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645920"/>
            <a:ext cx="35387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0" y="1920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03920" y="256032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Accurate Payments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503920" y="2907792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rent payments to verify who paid and when.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35387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114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475488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Security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14400" y="5102352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JWT &amp; BCrypt to protect data and access.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34840" y="3840480"/>
            <a:ext cx="35387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4114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09160" y="475488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Maintenance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709160" y="5102352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Recording, categorizing, and resolving maintenance requests.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3840480"/>
            <a:ext cx="35387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03920" y="4114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503920" y="475488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Statistics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503920" y="5102352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showing the overall status of apartments and income.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Technology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56816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5681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179222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 4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91640" y="2157984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Java framework that manages the REST API.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64592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82512" y="1956816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95681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78040" y="179222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78040" y="2157984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that stores all data (properties, units, payments).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3419856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41985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91640" y="32552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Data JPA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91640" y="3621024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the database without writing much SQL (ORM).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10896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82512" y="3419856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382512" y="341985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78040" y="32552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Security + JWT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78040" y="3621024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and endpoint protection.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5720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96112" y="4882896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488289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691640" y="471830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Lombok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691640" y="5084064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boilerplate code for Getters/Setters in entities.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45720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82512" y="4882896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6382512" y="488289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178040" y="471830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Maven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78040" y="5084064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the project's dependencies and build process.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Technology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56816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5681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179222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(Vite)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91640" y="2157984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user interface — pages like Dashboard, Owners, Leases, etc.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64592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82512" y="1956816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95681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78040" y="179222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Router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78040" y="2157984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Navigates between pages without reloading a new page.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3419856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41985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91640" y="32552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Axios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91640" y="3621024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HTTP requests to the backend, automatically attaching the JWT token.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10896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82512" y="3419856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1" name="Text 19"/>
          <p:cNvSpPr/>
          <p:nvPr/>
        </p:nvSpPr>
        <p:spPr>
          <a:xfrm>
            <a:off x="6382512" y="341985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78040" y="32552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API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78040" y="3621024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AuthContext tracks the logged-in user without repeating it in every file.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5720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96112" y="4882896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488289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691640" y="471830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Pattern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691640" y="5084064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follows the same pattern: load the list → show the table → open the Edit/Create modal.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45720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82512" y="4882896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31" name="Text 29"/>
          <p:cNvSpPr/>
          <p:nvPr/>
        </p:nvSpPr>
        <p:spPr>
          <a:xfrm>
            <a:off x="6382512" y="488289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178040" y="471830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CSS Theme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78040" y="5084064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 Navy / Teal / Gold color scheme across all pages.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1B234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309067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Client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6393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• :5173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703320" y="2834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B234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03320" y="309067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03320" y="36393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secured • :8080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040880" y="283464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1B234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040880" y="309067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40880" y="36393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&amp; Controllers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104120" y="283464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1B234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104120" y="309067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104120" y="363931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17520" y="3474720"/>
            <a:ext cx="685800" cy="256032"/>
          </a:xfrm>
          <a:prstGeom prst="rightArrow">
            <a:avLst/>
          </a:prstGeom>
          <a:solidFill>
            <a:srgbClr val="667085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5080" y="3474720"/>
            <a:ext cx="685800" cy="256032"/>
          </a:xfrm>
          <a:prstGeom prst="rightArrow">
            <a:avLst/>
          </a:prstGeom>
          <a:solidFill>
            <a:srgbClr val="667085"/>
          </a:solidFill>
          <a:ln/>
        </p:spPr>
      </p:sp>
      <p:sp>
        <p:nvSpPr>
          <p:cNvPr id="18" name="Shape 16"/>
          <p:cNvSpPr/>
          <p:nvPr/>
        </p:nvSpPr>
        <p:spPr>
          <a:xfrm>
            <a:off x="9418320" y="3474720"/>
            <a:ext cx="685800" cy="256032"/>
          </a:xfrm>
          <a:prstGeom prst="rightArrow">
            <a:avLst/>
          </a:prstGeom>
          <a:solidFill>
            <a:srgbClr val="66708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1600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6634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The user opens a page in the React app  →  2) Axios sends the request with the JWT token attached  →  3) Spring Security verifies the token  →  4) Controller/Service communicates with the Database  →  5) The result is returned back to React.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39496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56235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CORS: </a:t>
            </a:r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specifically allows http://localhost:5173  </a:t>
            </a:r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Stateless: </a:t>
            </a:r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no server sessions; all authentication relies on JWT.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(Entities)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37744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487168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90779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14600" y="237744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514600" y="2487168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Apartment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14600" y="290779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237744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487168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90779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629400" y="237744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2487168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29400" y="290779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86800" y="237744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0" y="2487168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0" y="290779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48840" y="2820924"/>
            <a:ext cx="365760" cy="201168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20" name="Shape 18"/>
          <p:cNvSpPr/>
          <p:nvPr/>
        </p:nvSpPr>
        <p:spPr>
          <a:xfrm>
            <a:off x="4206240" y="2820924"/>
            <a:ext cx="365760" cy="201168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21" name="Shape 19"/>
          <p:cNvSpPr/>
          <p:nvPr/>
        </p:nvSpPr>
        <p:spPr>
          <a:xfrm>
            <a:off x="6263640" y="2820924"/>
            <a:ext cx="365760" cy="201168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22" name="Shape 20"/>
          <p:cNvSpPr/>
          <p:nvPr/>
        </p:nvSpPr>
        <p:spPr>
          <a:xfrm>
            <a:off x="8321040" y="2820924"/>
            <a:ext cx="365760" cy="201168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33488" y="3383280"/>
            <a:ext cx="201168" cy="384048"/>
          </a:xfrm>
          <a:prstGeom prst="downArrow">
            <a:avLst/>
          </a:prstGeom>
          <a:solidFill>
            <a:srgbClr val="028090"/>
          </a:solidFill>
          <a:ln/>
        </p:spPr>
      </p:sp>
      <p:sp>
        <p:nvSpPr>
          <p:cNvPr id="24" name="Shape 22"/>
          <p:cNvSpPr/>
          <p:nvPr/>
        </p:nvSpPr>
        <p:spPr>
          <a:xfrm>
            <a:off x="6629400" y="379476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4B942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38862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29400" y="42062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76088" y="3383280"/>
            <a:ext cx="201168" cy="384048"/>
          </a:xfrm>
          <a:prstGeom prst="downArrow">
            <a:avLst/>
          </a:prstGeom>
          <a:solidFill>
            <a:srgbClr val="028090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0" y="379476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05A8A8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38862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0" y="42062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Request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" y="5074920"/>
            <a:ext cx="109087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14400" y="528523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Owner 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has several </a:t>
            </a:r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Apartment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Apartment 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has several </a:t>
            </a:r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Unit 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can have several </a:t>
            </a:r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(always one Tenant at a time)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Lease 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has several </a:t>
            </a:r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Unit 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has several </a:t>
            </a:r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Request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and Authentication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084832" cy="27432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08176" y="19659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408176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/ Login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181051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enters their email &amp; password.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34056" y="3017520"/>
            <a:ext cx="118872" cy="182880"/>
          </a:xfrm>
          <a:prstGeom prst="rightArrow">
            <a:avLst/>
          </a:prstGeom>
          <a:solidFill>
            <a:srgbClr val="F4B942"/>
          </a:solidFill>
          <a:ln/>
        </p:spPr>
      </p:sp>
      <p:sp>
        <p:nvSpPr>
          <p:cNvPr id="10" name="Shape 8"/>
          <p:cNvSpPr/>
          <p:nvPr/>
        </p:nvSpPr>
        <p:spPr>
          <a:xfrm>
            <a:off x="2862072" y="1737360"/>
            <a:ext cx="2084832" cy="27432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30168" y="19659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630168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99232" y="265176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BCrypt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99232" y="3246120"/>
            <a:ext cx="181051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password is stored securely (hashed) in the database.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56048" y="3017520"/>
            <a:ext cx="118872" cy="182880"/>
          </a:xfrm>
          <a:prstGeom prst="rightArrow">
            <a:avLst/>
          </a:prstGeom>
          <a:solidFill>
            <a:srgbClr val="F4B942"/>
          </a:solidFill>
          <a:ln/>
        </p:spPr>
      </p:sp>
      <p:sp>
        <p:nvSpPr>
          <p:cNvPr id="16" name="Shape 14"/>
          <p:cNvSpPr/>
          <p:nvPr/>
        </p:nvSpPr>
        <p:spPr>
          <a:xfrm>
            <a:off x="5084064" y="1737360"/>
            <a:ext cx="2084832" cy="27432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52160" y="19659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21224" y="265176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Token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21224" y="3246120"/>
            <a:ext cx="181051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generates a token — self-contained, with no session.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78040" y="3017520"/>
            <a:ext cx="118872" cy="182880"/>
          </a:xfrm>
          <a:prstGeom prst="rightArrow">
            <a:avLst/>
          </a:prstGeom>
          <a:solidFill>
            <a:srgbClr val="F4B942"/>
          </a:solidFill>
          <a:ln/>
        </p:spPr>
      </p:sp>
      <p:sp>
        <p:nvSpPr>
          <p:cNvPr id="22" name="Shape 20"/>
          <p:cNvSpPr/>
          <p:nvPr/>
        </p:nvSpPr>
        <p:spPr>
          <a:xfrm>
            <a:off x="7306056" y="1737360"/>
            <a:ext cx="2084832" cy="27432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74152" y="19659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8074152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43216" y="265176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Authorization Header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443216" y="3246120"/>
            <a:ext cx="181051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token is automatically attached to every Axios request.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400032" y="3017520"/>
            <a:ext cx="118872" cy="182880"/>
          </a:xfrm>
          <a:prstGeom prst="rightArrow">
            <a:avLst/>
          </a:prstGeom>
          <a:solidFill>
            <a:srgbClr val="F4B942"/>
          </a:solidFill>
          <a:ln/>
        </p:spPr>
      </p:sp>
      <p:sp>
        <p:nvSpPr>
          <p:cNvPr id="28" name="Shape 26"/>
          <p:cNvSpPr/>
          <p:nvPr/>
        </p:nvSpPr>
        <p:spPr>
          <a:xfrm>
            <a:off x="9528048" y="1737360"/>
            <a:ext cx="2084832" cy="27432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296144" y="19659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10296144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65208" y="265176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+ Role Check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665208" y="3246120"/>
            <a:ext cx="181051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JwtAuthenticationFilter verifies the token on every endpoint.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4709160"/>
            <a:ext cx="10908792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14400" y="4937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14400" y="525780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no sessions — Session Creation Policy = STATELESS.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26280" y="4937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26280" y="525780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account registered = ADMIN, subsequent ones = EMPLOYEE.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38160" y="4937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138160" y="525780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http://localhost:5173 is allowed to access the API.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(Modules)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953512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Registering property owners.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16916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0" y="192024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F4B942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26060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Apartments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2953512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properties and their general data.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192024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26060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2953512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units within each property and their status.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06840" y="16916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35440" y="192024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F4B942"/>
          </a:solidFill>
          <a:ln/>
        </p:spPr>
      </p:sp>
      <p:sp>
        <p:nvSpPr>
          <p:cNvPr id="21" name="Text 19"/>
          <p:cNvSpPr/>
          <p:nvPr/>
        </p:nvSpPr>
        <p:spPr>
          <a:xfrm>
            <a:off x="923544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35440" y="26060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Tenants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35440" y="2953512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on tenants.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38862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411480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8680" y="48006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8680" y="5148072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Leases, their dates &amp; status.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29000" y="38862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0" y="411480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F4B942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657600" y="48006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657600" y="5148072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rent payments.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38862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46520" y="411480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644652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46520" y="48006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46520" y="5148072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requests for units.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006840" y="38862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235440" y="411480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F4B942"/>
          </a:solidFill>
          <a:ln/>
        </p:spPr>
      </p:sp>
      <p:sp>
        <p:nvSpPr>
          <p:cNvPr id="41" name="Text 39"/>
          <p:cNvSpPr/>
          <p:nvPr/>
        </p:nvSpPr>
        <p:spPr>
          <a:xfrm>
            <a:off x="923544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235440" y="48006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235440" y="5148072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statistics about the business.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Statistics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Upon logging into the system, the /api/dashboard/stats endpoint immediately displays an overview of the business — reducing the need for manual calculations.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651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2918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Properties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242316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66160" y="2651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32918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Units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242316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2651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32918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Leases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32520" y="242316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0" y="2651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915400" y="32918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Income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60520"/>
            <a:ext cx="109087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389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(DashboardService)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75488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Controller: GET /api/dashboard/stats — a single, simple endpoint.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aggregates data from several repositories (Apartment, Unit, Lease, Payment).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returned as a single DTO (DashboardStatsResponse) that the Frontend displays easily.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Business Rules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Unit Status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➤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new Lease is created → the Unit automatically becomes OCCUPIED.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➤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Lease becomes TERMINATED or EXPIRED → the Unit reverts to AVAILABLE.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➤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don't need to manually change the Unit's status — the Backend handles 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1E2761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9659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 Decisions (Relations)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42316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➤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(such as Apartment ↔ Owner) are fixed at creation time and cannot be changed afterward.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➤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methods (ApartmentService.update, LeaseService.update) deliberately do not touch relationship fields.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➤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ensures the data always remains accurate and consistent.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Endpoints 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402336"/>
          </a:xfrm>
          <a:prstGeom prst="rect">
            <a:avLst/>
          </a:prstGeom>
          <a:solidFill>
            <a:srgbClr val="1E2761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69164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96512" y="169164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Path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302752" y="1691640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(Auth)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093976"/>
            <a:ext cx="10881360" cy="402336"/>
          </a:xfrm>
          <a:prstGeom prst="rect">
            <a:avLst/>
          </a:prstGeom>
          <a:solidFill>
            <a:srgbClr val="EEF2FA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093976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96512" y="209397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/api/auth/**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02752" y="2093976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(Public)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496312"/>
            <a:ext cx="108813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496312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96512" y="249631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/api/owners/**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02752" y="2496312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required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898648"/>
            <a:ext cx="10881360" cy="402336"/>
          </a:xfrm>
          <a:prstGeom prst="rect">
            <a:avLst/>
          </a:prstGeom>
          <a:solidFill>
            <a:srgbClr val="EEF2FA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2898648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Apartments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96512" y="289864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/api/apartments/**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02752" y="2898648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required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300984"/>
            <a:ext cx="108813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300984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96512" y="330098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/api/units/**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02752" y="3300984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required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3703320"/>
            <a:ext cx="10881360" cy="402336"/>
          </a:xfrm>
          <a:prstGeom prst="rect">
            <a:avLst/>
          </a:prstGeom>
          <a:solidFill>
            <a:srgbClr val="EEF2FA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370332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096512" y="370332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/api/tenants/**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02752" y="3703320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required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105656"/>
            <a:ext cx="108813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4105656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096512" y="410565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/api/leases/**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02752" y="4105656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required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4507992"/>
            <a:ext cx="10881360" cy="402336"/>
          </a:xfrm>
          <a:prstGeom prst="rect">
            <a:avLst/>
          </a:prstGeom>
          <a:solidFill>
            <a:srgbClr val="EEF2FA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4507992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096512" y="450799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/api/payments/**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02752" y="4507992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required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" y="4910328"/>
            <a:ext cx="108813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" y="4910328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Requests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096512" y="491032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/api/maintenance-requests/**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302752" y="4910328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required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" y="5312664"/>
            <a:ext cx="10881360" cy="402336"/>
          </a:xfrm>
          <a:prstGeom prst="rect">
            <a:avLst/>
          </a:prstGeom>
          <a:solidFill>
            <a:srgbClr val="EEF2FA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312664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096512" y="531266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/api/dashboard/stats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302752" y="5312664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required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endpoints support GET, POST, PUT/PATCH and DELETE — following REST conventions.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Future Development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⚠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the intermediate relationships (Owner → Apartment → Unit → Lease) during development.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⚠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security (JWT + CORS) when the Frontend and Backend run on different ports.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⚠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updating the Unit's status when a Lease changes.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028090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965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DEVELOPMENT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83680" y="242316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⬆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role-based access control for ADMIN and EMPLOYEE.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⬆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when leases end or payments are pending.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⬆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 app and PDF/Excel reports.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657600"/>
            <a:ext cx="5029200" cy="5029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33172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0" y="3246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 and patience!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84648" y="3977640"/>
            <a:ext cx="1828800" cy="0"/>
          </a:xfrm>
          <a:prstGeom prst="line">
            <a:avLst/>
          </a:prstGeom>
          <a:noFill/>
          <a:ln w="25400">
            <a:solidFill>
              <a:srgbClr val="F4B9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25196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Apartment Management System  •  Group 6  •  Spring Boot + React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2026-07-13T11:32:40Z</dcterms:created>
  <dcterms:modified xsi:type="dcterms:W3CDTF">2026-07-13T11:32:40Z</dcterms:modified>
</cp:coreProperties>
</file>